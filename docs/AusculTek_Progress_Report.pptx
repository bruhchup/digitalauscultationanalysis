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4A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AusculTek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8BDF8"/>
                </a:solidFill>
              </a:defRPr>
            </a:pPr>
            <a:r>
              <a:t>Automated Respiratory Sound Classification Using Deep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566160"/>
            <a:ext cx="3657600" cy="3657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>
                <a:solidFill>
                  <a:srgbClr val="BAE6FD"/>
                </a:solidFill>
              </a:defRPr>
            </a:pPr>
            <a:r>
              <a:t>Hayden Banks</a:t>
            </a:r>
          </a:p>
          <a:p>
            <a:pPr algn="ctr">
              <a:spcAft>
                <a:spcPts val="400"/>
              </a:spcAft>
              <a:defRPr sz="1800">
                <a:solidFill>
                  <a:srgbClr val="BAE6FD"/>
                </a:solidFill>
              </a:defRPr>
            </a:pPr>
            <a:r>
              <a:t>CIS 487 -- Capstone Progress Report</a:t>
            </a:r>
          </a:p>
          <a:p>
            <a:pPr algn="ctr">
              <a:spcAft>
                <a:spcPts val="400"/>
              </a:spcAft>
              <a:defRPr sz="1800">
                <a:solidFill>
                  <a:srgbClr val="BAE6FD"/>
                </a:solidFill>
              </a:defRPr>
            </a:pPr>
            <a:r>
              <a:t>April 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Problem &amp;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91695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C4A6E"/>
                </a:solidFill>
              </a:defRPr>
            </a:pPr>
            <a:r>
              <a:t>Respiratory diseases cause 3M+ deaths/year (COPD alone) -- early detection is critical</a:t>
            </a:r>
          </a:p>
          <a:p>
            <a:pPr>
              <a:spcAft>
                <a:spcPts val="600"/>
              </a:spcAft>
              <a:defRPr sz="2000">
                <a:solidFill>
                  <a:srgbClr val="0C4A6E"/>
                </a:solidFill>
              </a:defRPr>
            </a:pPr>
            <a:r>
              <a:t>Auscultation (stethoscope listening) is subjective -- inter-listener agreement &lt; 75%</a:t>
            </a:r>
          </a:p>
          <a:p>
            <a:pPr>
              <a:spcAft>
                <a:spcPts val="600"/>
              </a:spcAft>
              <a:defRPr sz="2000">
                <a:solidFill>
                  <a:srgbClr val="0C4A6E"/>
                </a:solidFill>
              </a:defRPr>
            </a:pPr>
            <a:r>
              <a:t>No permanent record -- sounds can't be revisited, shared, or tracked over time</a:t>
            </a:r>
          </a:p>
          <a:p>
            <a:pPr>
              <a:spcAft>
                <a:spcPts val="600"/>
              </a:spcAft>
              <a:defRPr sz="2000">
                <a:solidFill>
                  <a:srgbClr val="0C4A6E"/>
                </a:solidFill>
              </a:defRPr>
            </a:pPr>
            <a:r>
              <a:t>Digital stethoscopes create .wav files -- enabling computational analysis</a:t>
            </a:r>
          </a:p>
          <a:p>
            <a:pPr>
              <a:spcAft>
                <a:spcPts val="600"/>
              </a:spcAft>
              <a:defRPr sz="2000">
                <a:solidFill>
                  <a:srgbClr val="0C4A6E"/>
                </a:solidFill>
              </a:defRPr>
            </a:pPr>
            <a:r>
              <a:t>Goal: Build an AI assistant that provides objective, repeatable lung sound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AusculTek  |  CIS 487 Capstone  |  Spring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8BDF8"/>
                </a:solidFill>
              </a:defRPr>
            </a:pPr>
            <a:r>
              <a:t>End-to-end respiratory sound classification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91695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2468880" cy="23774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Audio</a:t>
            </a:r>
            <a:br/>
            <a:r>
              <a:t>Preprocessing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0F2FE"/>
                </a:solidFill>
              </a:defRPr>
            </a:pPr>
            <a:r>
              <a:t>Resample to 16 kHz</a:t>
            </a:r>
            <a:br/>
            <a:r>
              <a:t>Bandpass filter 50-2000 Hz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35808" y="28346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4748B"/>
                </a:solidFill>
              </a:defRPr>
            </a:pPr>
            <a:r>
              <a:t>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2011680"/>
            <a:ext cx="2468880" cy="237744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21945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Segmentation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01752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0F2FE"/>
                </a:solidFill>
              </a:defRPr>
            </a:pPr>
            <a:r>
              <a:t>Sliding window or</a:t>
            </a:r>
            <a:br/>
            <a:r>
              <a:t>ICBHI annotations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79008" y="28346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4748B"/>
                </a:solidFill>
              </a:defRPr>
            </a:pPr>
            <a:r>
              <a:t>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2011680"/>
            <a:ext cx="2468880" cy="23774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21945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Classification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301752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0F2FE"/>
                </a:solidFill>
              </a:defRPr>
            </a:pPr>
            <a:r>
              <a:t>CNN6 + SCL</a:t>
            </a:r>
            <a:br/>
            <a:r>
              <a:t>or Random Forest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28346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4748B"/>
                </a:solidFill>
              </a:defRPr>
            </a:pPr>
            <a:r>
              <a:t>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240" y="2011680"/>
            <a:ext cx="2468880" cy="2377440"/>
          </a:xfrm>
          <a:prstGeom prst="rect">
            <a:avLst/>
          </a:prstGeom>
          <a:solidFill>
            <a:srgbClr val="0C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0" y="21945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Visualization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301752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0F2FE"/>
                </a:solidFill>
              </a:defRPr>
            </a:pPr>
            <a:r>
              <a:t>Streamlit dashboard</a:t>
            </a:r>
            <a:br/>
            <a:r>
              <a:t>Interactive charts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AusculTek  |  CIS 487 Capstone  |  Spring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Dataset: ICBHI 2017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8BDF8"/>
                </a:solidFill>
              </a:defRPr>
            </a:pPr>
            <a:r>
              <a:t>International Conference on Biomedical and Health Informatics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91695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C4A6E"/>
                </a:solidFill>
              </a:defRPr>
            </a:pPr>
            <a:r>
              <a:t>920 recordings from 126 patients</a:t>
            </a:r>
          </a:p>
          <a:p>
            <a:pPr>
              <a:spcAft>
                <a:spcPts val="600"/>
              </a:spcAft>
              <a:defRPr sz="1800">
                <a:solidFill>
                  <a:srgbClr val="0C4A6E"/>
                </a:solidFill>
              </a:defRPr>
            </a:pPr>
            <a:r>
              <a:t>5.5 hours of respiratory audio</a:t>
            </a:r>
          </a:p>
          <a:p>
            <a:pPr>
              <a:spcAft>
                <a:spcPts val="600"/>
              </a:spcAft>
              <a:defRPr sz="1800">
                <a:solidFill>
                  <a:srgbClr val="0C4A6E"/>
                </a:solidFill>
              </a:defRPr>
            </a:pPr>
            <a:r>
              <a:t>Expert-annotated respiratory cycle boundaries</a:t>
            </a:r>
          </a:p>
          <a:p>
            <a:pPr>
              <a:spcAft>
                <a:spcPts val="600"/>
              </a:spcAft>
              <a:defRPr sz="1800">
                <a:solidFill>
                  <a:srgbClr val="0C4A6E"/>
                </a:solidFill>
              </a:defRPr>
            </a:pPr>
            <a:r>
              <a:t>4 classes: Normal, Crackle, Wheeze, Both</a:t>
            </a:r>
          </a:p>
          <a:p>
            <a:pPr>
              <a:spcAft>
                <a:spcPts val="600"/>
              </a:spcAft>
              <a:defRPr sz="1800">
                <a:solidFill>
                  <a:srgbClr val="0C4A6E"/>
                </a:solidFill>
              </a:defRPr>
            </a:pPr>
            <a:r>
              <a:t>Standardized 60/40 train/test split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0" y="1828800"/>
          <a:ext cx="4114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Class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Samples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Proportion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C4A6E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C4A6E"/>
                          </a:solidFill>
                        </a:defRPr>
                      </a:pPr>
                      <a:r>
                        <a:t>2,063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C4A6E"/>
                          </a:solidFill>
                        </a:defRPr>
                      </a:pPr>
                      <a:r>
                        <a:t>49.8%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C4A6E"/>
                          </a:solidFill>
                        </a:defRPr>
                      </a:pPr>
                      <a:r>
                        <a:t>Crackle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C4A6E"/>
                          </a:solidFill>
                        </a:defRPr>
                      </a:pPr>
                      <a:r>
                        <a:t>1,215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C4A6E"/>
                          </a:solidFill>
                        </a:defRPr>
                      </a:pPr>
                      <a:r>
                        <a:t>29.3%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C4A6E"/>
                          </a:solidFill>
                        </a:defRPr>
                      </a:pPr>
                      <a:r>
                        <a:t>Wheeze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C4A6E"/>
                          </a:solidFill>
                        </a:defRPr>
                      </a:pPr>
                      <a:r>
                        <a:t>501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C4A6E"/>
                          </a:solidFill>
                        </a:defRPr>
                      </a:pPr>
                      <a:r>
                        <a:t>12.1%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C4A6E"/>
                          </a:solidFill>
                        </a:defRPr>
                      </a:pPr>
                      <a:r>
                        <a:t>Both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C4A6E"/>
                          </a:solidFill>
                        </a:defRPr>
                      </a:pPr>
                      <a:r>
                        <a:t>363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C4A6E"/>
                          </a:solidFill>
                        </a:defRPr>
                      </a:pPr>
                      <a:r>
                        <a:t>8.8%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AusculTek  |  CIS 487 Capstone  |  Spring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Model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8BDF8"/>
                </a:solidFill>
              </a:defRPr>
            </a:pPr>
            <a:r>
              <a:t>CNN6 with Supervised Contrastive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91695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C4A6E"/>
                </a:solidFill>
              </a:defRPr>
            </a:pPr>
            <a:r>
              <a:t>CNN6 backbone (PANNs family)</a:t>
            </a:r>
          </a:p>
          <a:p>
            <a:pPr>
              <a:spcAft>
                <a:spcPts val="600"/>
              </a:spcAft>
              <a:defRPr sz="1600">
                <a:solidFill>
                  <a:srgbClr val="0C4A6E"/>
                </a:solidFill>
              </a:defRPr>
            </a:pPr>
            <a:r>
              <a:t>  - 4 convolutional blocks, 5x5 kernels</a:t>
            </a:r>
          </a:p>
          <a:p>
            <a:pPr>
              <a:spcAft>
                <a:spcPts val="600"/>
              </a:spcAft>
              <a:defRPr sz="1600">
                <a:solidFill>
                  <a:srgbClr val="0C4A6E"/>
                </a:solidFill>
              </a:defRPr>
            </a:pPr>
            <a:r>
              <a:t>  - Channels: 64 &gt; 128 &gt; 256 &gt; 512</a:t>
            </a:r>
          </a:p>
          <a:p>
            <a:pPr>
              <a:spcAft>
                <a:spcPts val="600"/>
              </a:spcAft>
              <a:defRPr sz="1600">
                <a:solidFill>
                  <a:srgbClr val="0C4A6E"/>
                </a:solidFill>
              </a:defRPr>
            </a:pPr>
            <a:r>
              <a:t>  - Pretrained on AudioSet (2M clips, 527 classes)</a:t>
            </a:r>
          </a:p>
          <a:p>
            <a:pPr>
              <a:spcAft>
                <a:spcPts val="600"/>
              </a:spcAft>
              <a:defRPr sz="1600">
                <a:solidFill>
                  <a:srgbClr val="0C4A6E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C4A6E"/>
                </a:solidFill>
              </a:defRPr>
            </a:pPr>
            <a:r>
              <a:t>Hybrid SCL + CE training objective</a:t>
            </a:r>
          </a:p>
          <a:p>
            <a:pPr>
              <a:spcAft>
                <a:spcPts val="600"/>
              </a:spcAft>
              <a:defRPr sz="1600">
                <a:solidFill>
                  <a:srgbClr val="0C4A6E"/>
                </a:solidFill>
              </a:defRPr>
            </a:pPr>
            <a:r>
              <a:t>  - L = 0.5 * L_SupCon + 0.5 * L_CE</a:t>
            </a:r>
          </a:p>
          <a:p>
            <a:pPr>
              <a:spcAft>
                <a:spcPts val="600"/>
              </a:spcAft>
              <a:defRPr sz="1600">
                <a:solidFill>
                  <a:srgbClr val="0C4A6E"/>
                </a:solidFill>
              </a:defRPr>
            </a:pPr>
            <a:r>
              <a:t>  - Contrastive loss pulls same-class embeddings together</a:t>
            </a:r>
          </a:p>
          <a:p>
            <a:pPr>
              <a:spcAft>
                <a:spcPts val="600"/>
              </a:spcAft>
              <a:defRPr sz="1600">
                <a:solidFill>
                  <a:srgbClr val="0C4A6E"/>
                </a:solidFill>
              </a:defRPr>
            </a:pPr>
            <a:r>
              <a:t>  - CE loss with inverse-frequency class weights</a:t>
            </a:r>
          </a:p>
          <a:p>
            <a:pPr>
              <a:spcAft>
                <a:spcPts val="600"/>
              </a:spcAft>
              <a:defRPr sz="1600">
                <a:solidFill>
                  <a:srgbClr val="0C4A6E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C4A6E"/>
                </a:solidFill>
              </a:defRPr>
            </a:pPr>
            <a:r>
              <a:t>Projector head: 512 &gt; 512 &gt; 128 (for contrastive loss)</a:t>
            </a:r>
          </a:p>
          <a:p>
            <a:pPr>
              <a:spcAft>
                <a:spcPts val="600"/>
              </a:spcAft>
              <a:defRPr sz="1600">
                <a:solidFill>
                  <a:srgbClr val="0C4A6E"/>
                </a:solidFill>
              </a:defRPr>
            </a:pPr>
            <a:r>
              <a:t>Linear classifier: 512 &gt; 4 (for predictions)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79" y="1645920"/>
            <a:ext cx="41148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7373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C4A6E"/>
                </a:solidFill>
              </a:defRPr>
            </a:pPr>
            <a:r>
              <a:t>Training Config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286000"/>
            <a:ext cx="3840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64748B"/>
                </a:solidFill>
              </a:defRPr>
            </a:pPr>
            <a:r>
              <a:t>Optimizer: Adam (lr=1e-4)</a:t>
            </a:r>
          </a:p>
          <a:p>
            <a:pPr>
              <a:spcAft>
                <a:spcPts val="600"/>
              </a:spcAft>
              <a:defRPr sz="1400">
                <a:solidFill>
                  <a:srgbClr val="64748B"/>
                </a:solidFill>
              </a:defRPr>
            </a:pPr>
            <a:r>
              <a:t>Scheduler: Cosine Annealing</a:t>
            </a:r>
          </a:p>
          <a:p>
            <a:pPr>
              <a:spcAft>
                <a:spcPts val="600"/>
              </a:spcAft>
              <a:defRPr sz="1400">
                <a:solidFill>
                  <a:srgbClr val="64748B"/>
                </a:solidFill>
              </a:defRPr>
            </a:pPr>
            <a:r>
              <a:t>Batch size: 128</a:t>
            </a:r>
          </a:p>
          <a:p>
            <a:pPr>
              <a:spcAft>
                <a:spcPts val="600"/>
              </a:spcAft>
              <a:defRPr sz="1400">
                <a:solidFill>
                  <a:srgbClr val="64748B"/>
                </a:solidFill>
              </a:defRPr>
            </a:pPr>
            <a:r>
              <a:t>Duration: 8s @ 16 kHz</a:t>
            </a:r>
          </a:p>
          <a:p>
            <a:pPr>
              <a:spcAft>
                <a:spcPts val="600"/>
              </a:spcAft>
              <a:defRPr sz="1400">
                <a:solidFill>
                  <a:srgbClr val="64748B"/>
                </a:solidFill>
              </a:defRPr>
            </a:pPr>
            <a:r>
              <a:t>Mel bands: 64</a:t>
            </a:r>
          </a:p>
          <a:p>
            <a:pPr>
              <a:spcAft>
                <a:spcPts val="600"/>
              </a:spcAft>
              <a:defRPr sz="1400">
                <a:solidFill>
                  <a:srgbClr val="64748B"/>
                </a:solidFill>
              </a:defRPr>
            </a:pPr>
            <a:r>
              <a:t>FFT: 1024, Hop: 512</a:t>
            </a:r>
          </a:p>
          <a:p>
            <a:pPr>
              <a:spcAft>
                <a:spcPts val="600"/>
              </a:spcAft>
              <a:defRPr sz="1400">
                <a:solidFill>
                  <a:srgbClr val="64748B"/>
                </a:solidFill>
              </a:defRPr>
            </a:pPr>
            <a:r>
              <a:t>Freq range: 50-2000 Hz</a:t>
            </a:r>
          </a:p>
          <a:p>
            <a:pPr>
              <a:spcAft>
                <a:spcPts val="600"/>
              </a:spcAft>
              <a:defRPr sz="1400">
                <a:solidFill>
                  <a:srgbClr val="64748B"/>
                </a:solidFill>
              </a:defRPr>
            </a:pPr>
            <a:r>
              <a:t>Augmentation: SpecAugment</a:t>
            </a:r>
          </a:p>
          <a:p>
            <a:pPr>
              <a:spcAft>
                <a:spcPts val="600"/>
              </a:spcAft>
              <a:defRPr sz="1400">
                <a:solidFill>
                  <a:srgbClr val="64748B"/>
                </a:solidFill>
              </a:defRPr>
            </a:pPr>
            <a:r>
              <a:t>Temperature (tau): 0.06</a:t>
            </a:r>
          </a:p>
          <a:p>
            <a:pPr>
              <a:spcAft>
                <a:spcPts val="600"/>
              </a:spcAft>
              <a:defRPr sz="1400">
                <a:solidFill>
                  <a:srgbClr val="64748B"/>
                </a:solidFill>
              </a:defRPr>
            </a:pPr>
            <a:r>
              <a:t>GPU: Google Colab T4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AusculTek  |  CIS 487 Capstone  |  Spring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Current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8BDF8"/>
                </a:solidFill>
              </a:defRPr>
            </a:pPr>
            <a:r>
              <a:t>50-epoch hybrid SCL training run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91695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25603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ICBHI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C4A6E"/>
                </a:solidFill>
              </a:defRPr>
            </a:pPr>
            <a:r>
              <a:t>0.5497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t>(SE + SP) /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645920"/>
            <a:ext cx="25603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737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Sensitivity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1031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C4A6E"/>
                </a:solidFill>
              </a:defRPr>
            </a:pPr>
            <a:r>
              <a:t>0.3330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926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t>Abnormal detection 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645920"/>
            <a:ext cx="25603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737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Specificity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1031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C4A6E"/>
                </a:solidFill>
              </a:defRPr>
            </a:pPr>
            <a:r>
              <a:t>0.7663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926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t>Normal detection 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1645920"/>
            <a:ext cx="25603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1737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Epochs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1031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C4A6E"/>
                </a:solidFill>
              </a:defRPr>
            </a:pPr>
            <a:r>
              <a:t>50 / 400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926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t>Target: 400 epochs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9319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C4A6E"/>
                </a:solidFill>
              </a:defRPr>
            </a:pPr>
            <a:r>
              <a:t>Model achieves competitive specificity (76.6%) -- good at identifying normal sounds</a:t>
            </a:r>
          </a:p>
          <a:p>
            <a:pPr>
              <a:spcAft>
                <a:spcPts val="600"/>
              </a:spcAft>
              <a:defRPr sz="1600">
                <a:solidFill>
                  <a:srgbClr val="0C4A6E"/>
                </a:solidFill>
              </a:defRPr>
            </a:pPr>
            <a:r>
              <a:t>Sensitivity needs improvement (33.3%) -- misses some abnormal sounds</a:t>
            </a:r>
          </a:p>
          <a:p>
            <a:pPr>
              <a:spcAft>
                <a:spcPts val="600"/>
              </a:spcAft>
              <a:defRPr sz="1600">
                <a:solidFill>
                  <a:srgbClr val="0C4A6E"/>
                </a:solidFill>
              </a:defRPr>
            </a:pPr>
            <a:r>
              <a:t>Class imbalance (Normal ~50%) biases predictions toward the majority class</a:t>
            </a:r>
          </a:p>
          <a:p>
            <a:pPr>
              <a:spcAft>
                <a:spcPts val="600"/>
              </a:spcAft>
              <a:defRPr sz="1600">
                <a:solidFill>
                  <a:srgbClr val="0C4A6E"/>
                </a:solidFill>
              </a:defRPr>
            </a:pPr>
            <a:r>
              <a:t>Extended training to 400 epochs expected to improve sensitivity significantly</a:t>
            </a:r>
          </a:p>
          <a:p>
            <a:pPr>
              <a:spcAft>
                <a:spcPts val="600"/>
              </a:spcAft>
              <a:defRPr sz="1600">
                <a:solidFill>
                  <a:srgbClr val="0C4A6E"/>
                </a:solidFill>
              </a:defRPr>
            </a:pPr>
            <a:r>
              <a:t>Current score is within range of published deep learning results on ICBHI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AusculTek  |  CIS 487 Capstone  |  Spring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Web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8BDF8"/>
                </a:solidFill>
              </a:defRPr>
            </a:pPr>
            <a:r>
              <a:t>Interactive Streamlit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91695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C4A6E"/>
                </a:solidFill>
              </a:defRPr>
            </a:pPr>
            <a:r>
              <a:t>Upload .wav lung recordings via sidebar</a:t>
            </a:r>
          </a:p>
          <a:p>
            <a:pPr>
              <a:spcAft>
                <a:spcPts val="600"/>
              </a:spcAft>
              <a:defRPr sz="1600">
                <a:solidFill>
                  <a:srgbClr val="0C4A6E"/>
                </a:solidFill>
              </a:defRPr>
            </a:pPr>
            <a:r>
              <a:t>Optional ICBHI annotation file support</a:t>
            </a:r>
          </a:p>
          <a:p>
            <a:pPr>
              <a:spcAft>
                <a:spcPts val="600"/>
              </a:spcAft>
              <a:defRPr sz="1600">
                <a:solidFill>
                  <a:srgbClr val="0C4A6E"/>
                </a:solidFill>
              </a:defRPr>
            </a:pPr>
            <a:r>
              <a:t>Real-time classification with confidence scores</a:t>
            </a:r>
          </a:p>
          <a:p>
            <a:pPr>
              <a:spcAft>
                <a:spcPts val="600"/>
              </a:spcAft>
              <a:defRPr sz="1600">
                <a:solidFill>
                  <a:srgbClr val="0C4A6E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C4A6E"/>
                </a:solidFill>
              </a:defRPr>
            </a:pPr>
            <a:r>
              <a:t>Dashboard visualizations:</a:t>
            </a:r>
          </a:p>
          <a:p>
            <a:pPr>
              <a:spcAft>
                <a:spcPts val="600"/>
              </a:spcAft>
              <a:defRPr sz="1600">
                <a:solidFill>
                  <a:srgbClr val="0C4A6E"/>
                </a:solidFill>
              </a:defRPr>
            </a:pPr>
            <a:r>
              <a:t>  - Overall confidence gauge chart</a:t>
            </a:r>
          </a:p>
          <a:p>
            <a:pPr>
              <a:spcAft>
                <a:spcPts val="600"/>
              </a:spcAft>
              <a:defRPr sz="1600">
                <a:solidFill>
                  <a:srgbClr val="0C4A6E"/>
                </a:solidFill>
              </a:defRPr>
            </a:pPr>
            <a:r>
              <a:t>  - Classification distribution pie chart</a:t>
            </a:r>
          </a:p>
          <a:p>
            <a:pPr>
              <a:spcAft>
                <a:spcPts val="600"/>
              </a:spcAft>
              <a:defRPr sz="1600">
                <a:solidFill>
                  <a:srgbClr val="0C4A6E"/>
                </a:solidFill>
              </a:defRPr>
            </a:pPr>
            <a:r>
              <a:t>  - Color-coded waveform overlay</a:t>
            </a:r>
          </a:p>
          <a:p>
            <a:pPr>
              <a:spcAft>
                <a:spcPts val="600"/>
              </a:spcAft>
              <a:defRPr sz="1600">
                <a:solidFill>
                  <a:srgbClr val="0C4A6E"/>
                </a:solidFill>
              </a:defRPr>
            </a:pPr>
            <a:r>
              <a:t>  - Class probability heatmap across segments</a:t>
            </a:r>
          </a:p>
          <a:p>
            <a:pPr>
              <a:spcAft>
                <a:spcPts val="600"/>
              </a:spcAft>
              <a:defRPr sz="1600">
                <a:solidFill>
                  <a:srgbClr val="0C4A6E"/>
                </a:solidFill>
              </a:defRPr>
            </a:pPr>
            <a:r>
              <a:t>  - Per-segment confidence bar chart</a:t>
            </a:r>
          </a:p>
          <a:p>
            <a:pPr>
              <a:spcAft>
                <a:spcPts val="600"/>
              </a:spcAft>
              <a:defRPr sz="1600">
                <a:solidFill>
                  <a:srgbClr val="0C4A6E"/>
                </a:solidFill>
              </a:defRPr>
            </a:pPr>
            <a:r>
              <a:t>  - Detailed segment data table</a:t>
            </a:r>
          </a:p>
          <a:p>
            <a:pPr>
              <a:spcAft>
                <a:spcPts val="600"/>
              </a:spcAft>
              <a:defRPr sz="1600">
                <a:solidFill>
                  <a:srgbClr val="0C4A6E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C4A6E"/>
                </a:solidFill>
              </a:defRPr>
            </a:pPr>
            <a:r>
              <a:t>Session history tracking</a:t>
            </a:r>
          </a:p>
          <a:p>
            <a:pPr>
              <a:spcAft>
                <a:spcPts val="600"/>
              </a:spcAft>
              <a:defRPr sz="1600">
                <a:solidFill>
                  <a:srgbClr val="0C4A6E"/>
                </a:solidFill>
              </a:defRPr>
            </a:pPr>
            <a:r>
              <a:t>Raw JSON output for debugging</a:t>
            </a:r>
          </a:p>
          <a:p>
            <a:pPr>
              <a:spcAft>
                <a:spcPts val="600"/>
              </a:spcAft>
              <a:defRPr sz="1600">
                <a:solidFill>
                  <a:srgbClr val="0C4A6E"/>
                </a:solidFill>
              </a:defRPr>
            </a:pPr>
            <a:r>
              <a:t>Dual-model support (CNN6 or Random Forest)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0" y="1645920"/>
            <a:ext cx="457200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7373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C4A6E"/>
                </a:solidFill>
              </a:defRPr>
            </a:pPr>
            <a:r>
              <a:t>Tech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286000"/>
            <a:ext cx="4206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64748B"/>
                </a:solidFill>
              </a:defRPr>
            </a:pPr>
            <a:r>
              <a:t>Python 3.12</a:t>
            </a:r>
          </a:p>
          <a:p>
            <a:pPr>
              <a:spcAft>
                <a:spcPts val="600"/>
              </a:spcAft>
              <a:defRPr sz="1400">
                <a:solidFill>
                  <a:srgbClr val="64748B"/>
                </a:solidFill>
              </a:defRPr>
            </a:pPr>
            <a:r>
              <a:t>PyTorch 2.0+ / torchaudio</a:t>
            </a:r>
          </a:p>
          <a:p>
            <a:pPr>
              <a:spcAft>
                <a:spcPts val="600"/>
              </a:spcAft>
              <a:defRPr sz="1400">
                <a:solidFill>
                  <a:srgbClr val="64748B"/>
                </a:solidFill>
              </a:defRPr>
            </a:pPr>
            <a:r>
              <a:t>scikit-learn 1.6.1</a:t>
            </a:r>
          </a:p>
          <a:p>
            <a:pPr>
              <a:spcAft>
                <a:spcPts val="600"/>
              </a:spcAft>
              <a:defRPr sz="1400">
                <a:solidFill>
                  <a:srgbClr val="64748B"/>
                </a:solidFill>
              </a:defRPr>
            </a:pPr>
            <a:r>
              <a:t>librosa 0.11.0</a:t>
            </a:r>
          </a:p>
          <a:p>
            <a:pPr>
              <a:spcAft>
                <a:spcPts val="600"/>
              </a:spcAft>
              <a:defRPr sz="1400">
                <a:solidFill>
                  <a:srgbClr val="64748B"/>
                </a:solidFill>
              </a:defRPr>
            </a:pPr>
            <a:r>
              <a:t>Streamlit 1.30+</a:t>
            </a:r>
          </a:p>
          <a:p>
            <a:pPr>
              <a:spcAft>
                <a:spcPts val="600"/>
              </a:spcAft>
              <a:defRPr sz="1400">
                <a:solidFill>
                  <a:srgbClr val="64748B"/>
                </a:solidFill>
              </a:defRPr>
            </a:pPr>
            <a:r>
              <a:t>Plotly 5.18+</a:t>
            </a:r>
          </a:p>
          <a:p>
            <a:pPr>
              <a:spcAft>
                <a:spcPts val="600"/>
              </a:spcAft>
              <a:defRPr sz="1400">
                <a:solidFill>
                  <a:srgbClr val="64748B"/>
                </a:solidFill>
              </a:defRPr>
            </a:pPr>
            <a:r>
              <a:t>Google Colab (T4 GPU)</a:t>
            </a:r>
          </a:p>
          <a:p>
            <a:pPr>
              <a:spcAft>
                <a:spcPts val="600"/>
              </a:spcAft>
              <a:defRPr sz="1400">
                <a:solidFill>
                  <a:srgbClr val="64748B"/>
                </a:solidFill>
              </a:defRPr>
            </a:pPr>
            <a:r>
              <a:t>GitHub for version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AusculTek  |  CIS 487 Capstone  |  Spring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Key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91695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1097280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1907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C4A6E"/>
                </a:solidFill>
              </a:defRPr>
            </a:pPr>
            <a:r>
              <a:t>Kong et al. (2020)  --  PANNs: Large-Scale Pretrained Audio Neural Networks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Provides the CNN6 backbone pretrained on AudioSet -- enables transfer learning to respiratory sounds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834640"/>
            <a:ext cx="1097280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077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C4A6E"/>
                </a:solidFill>
              </a:defRPr>
            </a:pPr>
            <a:r>
              <a:t>Moummad &amp; Farrugia (2023)  --  Lung Sound Classification Using SCL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37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Primary reference -- demonstrates SCL outperforms cross-entropy on ICBHI benchmark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023360"/>
            <a:ext cx="1097280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09651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C4A6E"/>
                </a:solidFill>
              </a:defRPr>
            </a:pPr>
            <a:r>
              <a:t>Gunel et al. (2021)  --  Supervised Contrastive Learning for Fine-tuning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26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Motivated the hybrid SCL+CE training objective used in this project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212080"/>
            <a:ext cx="1097280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2852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C4A6E"/>
                </a:solidFill>
              </a:defRPr>
            </a:pPr>
            <a:r>
              <a:t>Rocha et al. (2019)  --  ICBHI Open Access 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15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Defines the dataset, evaluation protocol, and ICBHI score 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AusculTek  |  CIS 487 Capstone  |  Spring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91695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55648"/>
            <a:ext cx="137160" cy="1371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C4A6E"/>
                </a:solidFill>
              </a:defRPr>
            </a:pPr>
            <a:r>
              <a:t>Extended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645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Complete 400-epoch run on Colab T4 -- notebook is ready to go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32888"/>
            <a:ext cx="137160" cy="1371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C4A6E"/>
                </a:solidFill>
              </a:defRPr>
            </a:pPr>
            <a:r>
              <a:t>Hyperparameter Tuning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423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Adjust class weights, tau, alpha to improve sensitivity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10128"/>
            <a:ext cx="137160" cy="1371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C4A6E"/>
                </a:solidFill>
              </a:defRPr>
            </a:pPr>
            <a:r>
              <a:t>Backbone Comparison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3200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Evaluate CNN10 and CNN14 -- code already supports all three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087368"/>
            <a:ext cx="137160" cy="1371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977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C4A6E"/>
                </a:solidFill>
              </a:defRPr>
            </a:pPr>
            <a:r>
              <a:t>Real-Time Inference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3977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Stream from connected digital stethoscope for live analysis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864608"/>
            <a:ext cx="137160" cy="1371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754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C4A6E"/>
                </a:solidFill>
              </a:defRPr>
            </a:pPr>
            <a:r>
              <a:t>Clinical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4754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Partner with healthcare professionals for real-world evaluation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641848"/>
            <a:ext cx="137160" cy="1371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532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C4A6E"/>
                </a:solidFill>
              </a:defRPr>
            </a:pPr>
            <a:r>
              <a:t>Model Explainability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5532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Add Grad-CAM visualizations to show what drives predictions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AusculTek  |  CIS 487 Capstone  |  Spring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4A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3108960"/>
            <a:ext cx="2743200" cy="3657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000">
                <a:solidFill>
                  <a:srgbClr val="BAE6FD"/>
                </a:solidFill>
              </a:defRPr>
            </a:pPr>
            <a:r>
              <a:t>Hayden Banks</a:t>
            </a:r>
          </a:p>
          <a:p>
            <a:pPr algn="ctr">
              <a:spcAft>
                <a:spcPts val="800"/>
              </a:spcAft>
              <a:defRPr sz="2000">
                <a:solidFill>
                  <a:srgbClr val="BAE6FD"/>
                </a:solidFill>
              </a:defRPr>
            </a:pPr>
            <a:r>
              <a:t>github.com/bruhchup/DigitalAuscultationAnalysis</a:t>
            </a:r>
          </a:p>
          <a:p>
            <a:pPr algn="ctr">
              <a:spcAft>
                <a:spcPts val="800"/>
              </a:spcAft>
              <a:defRPr sz="2000">
                <a:solidFill>
                  <a:srgbClr val="BAE6FD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